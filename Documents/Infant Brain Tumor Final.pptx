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0" r:id="rId4"/>
    <p:sldId id="276" r:id="rId5"/>
    <p:sldId id="278" r:id="rId6"/>
    <p:sldId id="279" r:id="rId7"/>
    <p:sldId id="258" r:id="rId8"/>
    <p:sldId id="281" r:id="rId9"/>
    <p:sldId id="282" r:id="rId10"/>
    <p:sldId id="283" r:id="rId11"/>
    <p:sldId id="284" r:id="rId12"/>
    <p:sldId id="275" r:id="rId13"/>
    <p:sldId id="286" r:id="rId14"/>
    <p:sldId id="259" r:id="rId15"/>
    <p:sldId id="260" r:id="rId16"/>
    <p:sldId id="261" r:id="rId17"/>
    <p:sldId id="262" r:id="rId18"/>
    <p:sldId id="287" r:id="rId19"/>
    <p:sldId id="289" r:id="rId20"/>
    <p:sldId id="290" r:id="rId21"/>
    <p:sldId id="291" r:id="rId22"/>
    <p:sldId id="269" r:id="rId23"/>
    <p:sldId id="288" r:id="rId24"/>
    <p:sldId id="270" r:id="rId25"/>
    <p:sldId id="271" r:id="rId26"/>
  </p:sldIdLst>
  <p:sldSz cx="12204700" cy="6858000"/>
  <p:notesSz cx="122047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44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540" y="1019771"/>
            <a:ext cx="106756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114" cy="68576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114" cy="68576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3257" y="599300"/>
            <a:ext cx="289242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132248"/>
            <a:ext cx="10675619" cy="2335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51" y="1905000"/>
            <a:ext cx="11895594" cy="25051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264" marR="5080" indent="-1727200" algn="ctr">
              <a:lnSpc>
                <a:spcPct val="100200"/>
              </a:lnSpc>
              <a:spcBef>
                <a:spcPts val="95"/>
              </a:spcBef>
            </a:pPr>
            <a:r>
              <a:rPr lang="en-US" sz="5400" dirty="0">
                <a:solidFill>
                  <a:schemeClr val="bg1"/>
                </a:solidFill>
              </a:rPr>
              <a:t>INFANT BRAIN TUMOR DETECTION USING 3D RECONSTRUCTION WITH ULTRASOUND IMAGES</a:t>
            </a:r>
            <a:endParaRPr sz="51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45314" y="3809885"/>
            <a:ext cx="501015" cy="0"/>
          </a:xfrm>
          <a:custGeom>
            <a:avLst/>
            <a:gdLst/>
            <a:ahLst/>
            <a:cxnLst/>
            <a:rect l="l" t="t" r="r" b="b"/>
            <a:pathLst>
              <a:path w="501014">
                <a:moveTo>
                  <a:pt x="0" y="0"/>
                </a:moveTo>
                <a:lnTo>
                  <a:pt x="500760" y="0"/>
                </a:lnTo>
              </a:path>
            </a:pathLst>
          </a:custGeom>
          <a:ln w="19079">
            <a:solidFill>
              <a:srgbClr val="AB3D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019771"/>
            <a:ext cx="2729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845838"/>
            <a:ext cx="9874250" cy="1198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Applying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deep learning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FFFFFF"/>
                </a:solidFill>
                <a:latin typeface="Calibri"/>
                <a:cs typeface="Calibri"/>
              </a:rPr>
              <a:t>Ultrasound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Brain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images </a:t>
            </a:r>
            <a:r>
              <a:rPr sz="2400" spc="-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architectures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NN,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Alexnet,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ResNets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,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VGG-16 Architecture.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258" y="1524000"/>
            <a:ext cx="10926902" cy="5721566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Ultrasonography is usually used for the detection and differential diagnosis of fetal tumors, and magnetic resonance imaging is increasingly being used as a complementary study. 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Use of ultrasound and magnetic resonance image allows the suspicion of brain tumors during pregnancy. </a:t>
            </a:r>
          </a:p>
          <a:p>
            <a:pPr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 Image fusion technology has been employed to address these challenges.</a:t>
            </a:r>
          </a:p>
          <a:p>
            <a:pPr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 Using the image fusion technology, one could obtain real-time anatomical imaging superimposed by functional images showing the same plane to facilitate the diagnosis and treatments of Fetal Brain tumors. </a:t>
            </a:r>
          </a:p>
          <a:p>
            <a:pPr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this project, Image fusion of Ultra Sound and MRI Tumor images based on </a:t>
            </a:r>
            <a:r>
              <a:rPr lang="en-US" sz="2200" b="1" dirty="0">
                <a:solidFill>
                  <a:schemeClr val="bg1"/>
                </a:solidFill>
              </a:rPr>
              <a:t>Recurrent Neural Network </a:t>
            </a:r>
            <a:r>
              <a:rPr lang="en-US" sz="2200" dirty="0">
                <a:solidFill>
                  <a:schemeClr val="bg1"/>
                </a:solidFill>
              </a:rPr>
              <a:t>for low and high-activity Fetus Tumor image regions will be done.</a:t>
            </a:r>
          </a:p>
          <a:p>
            <a:pPr indent="-34290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63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5273" y="641604"/>
            <a:ext cx="4522470" cy="459740"/>
            <a:chOff x="534923" y="641604"/>
            <a:chExt cx="4522470" cy="459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923" y="641604"/>
              <a:ext cx="4522470" cy="4594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745" y="665480"/>
              <a:ext cx="4462373" cy="39966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180590" y="3316986"/>
            <a:ext cx="7349490" cy="3306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spcBef>
                <a:spcPts val="100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Brain tumor occurs because of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anomalous development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of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cells.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Millions of 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deaths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can be prevented through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early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detection of</a:t>
            </a:r>
            <a:r>
              <a:rPr spc="88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brain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tumor</a:t>
            </a:r>
            <a:r>
              <a:rPr spc="-5" dirty="0">
                <a:solidFill>
                  <a:schemeClr val="bg1"/>
                </a:solidFill>
                <a:latin typeface="Calibri"/>
                <a:cs typeface="Calibri"/>
              </a:rPr>
              <a:t>.</a:t>
            </a:r>
            <a:r>
              <a:rPr spc="39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Tumours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can</a:t>
            </a:r>
            <a:r>
              <a:rPr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start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in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brain,</a:t>
            </a:r>
            <a:r>
              <a:rPr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or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elsewhere</a:t>
            </a:r>
            <a:r>
              <a:rPr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in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body can</a:t>
            </a:r>
            <a:r>
              <a:rPr spc="-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spread to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brain.</a:t>
            </a:r>
          </a:p>
          <a:p>
            <a:pPr>
              <a:spcBef>
                <a:spcPts val="30"/>
              </a:spcBef>
              <a:buClr>
                <a:srgbClr val="A9A47B"/>
              </a:buClr>
              <a:buFont typeface="Arial MT"/>
              <a:buChar char="•"/>
            </a:pPr>
            <a:endParaRPr sz="2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41300" marR="5080" indent="-228600" algn="just">
              <a:spcBef>
                <a:spcPts val="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Symptoms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include new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or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increasingly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strong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headaches, blurred vision, loss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of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balance,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confusion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and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seizures.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In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some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cases,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there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may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bg1"/>
                </a:solidFill>
                <a:latin typeface="Times New Roman"/>
                <a:cs typeface="Times New Roman"/>
              </a:rPr>
              <a:t>be</a:t>
            </a:r>
            <a:r>
              <a:rPr spc="43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no </a:t>
            </a:r>
            <a:r>
              <a:rPr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symptoms.</a:t>
            </a:r>
            <a:endParaRPr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  <a:buClr>
                <a:srgbClr val="A9A47B"/>
              </a:buClr>
              <a:buFont typeface="Arial MT"/>
              <a:buChar char="•"/>
            </a:pPr>
            <a:endParaRPr sz="26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41300" marR="5080" indent="-228600" algn="just"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According to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the American Brain </a:t>
            </a:r>
            <a:r>
              <a:rPr spc="-15" dirty="0">
                <a:solidFill>
                  <a:schemeClr val="bg1"/>
                </a:solidFill>
                <a:latin typeface="Times New Roman"/>
                <a:cs typeface="Times New Roman"/>
              </a:rPr>
              <a:t>Tumor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Association, about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80,000 men,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women, and children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were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expected to be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diagnosed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with a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primary brain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tumor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 during</a:t>
            </a:r>
            <a:r>
              <a:rPr spc="-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bg1"/>
                </a:solidFill>
                <a:latin typeface="Times New Roman"/>
                <a:cs typeface="Times New Roman"/>
              </a:rPr>
              <a:t>2017.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0239" y="1295400"/>
            <a:ext cx="2467355" cy="18470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58965" y="1357883"/>
            <a:ext cx="2644140" cy="1757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3751" y="641591"/>
            <a:ext cx="3491229" cy="458470"/>
            <a:chOff x="533400" y="641591"/>
            <a:chExt cx="3491229" cy="458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641591"/>
              <a:ext cx="3490722" cy="4579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827" y="665480"/>
              <a:ext cx="3431654" cy="39941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180591" y="1595450"/>
            <a:ext cx="370141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 algn="just">
              <a:spcBef>
                <a:spcPts val="105"/>
              </a:spcBef>
              <a:buClr>
                <a:srgbClr val="A9A47B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In</a:t>
            </a:r>
            <a:r>
              <a:rPr sz="2000" spc="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present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scenario,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radiologists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have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 manually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study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the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tumors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with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the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available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medical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imaging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tools </a:t>
            </a:r>
            <a:r>
              <a:rPr sz="2000" spc="-48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generate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a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report.</a:t>
            </a:r>
            <a:r>
              <a:rPr sz="2000" spc="49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The </a:t>
            </a:r>
            <a:r>
              <a:rPr sz="2000" spc="-48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process</a:t>
            </a:r>
            <a:r>
              <a:rPr sz="2000" spc="-4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time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consuming.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80590" y="3851910"/>
            <a:ext cx="2824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Clr>
                <a:srgbClr val="A9A47B"/>
              </a:buClr>
              <a:buFont typeface="Arial MT"/>
              <a:buChar char="•"/>
              <a:tabLst>
                <a:tab pos="240665" algn="l"/>
                <a:tab pos="241300" algn="l"/>
                <a:tab pos="1076325" algn="l"/>
                <a:tab pos="1923414" algn="l"/>
              </a:tabLst>
            </a:pPr>
            <a:r>
              <a:rPr lang="en-US" sz="2000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lang="en-US"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h</a:t>
            </a:r>
            <a:r>
              <a:rPr lang="en-US" sz="2000" dirty="0">
                <a:solidFill>
                  <a:srgbClr val="2E2B1F"/>
                </a:solidFill>
                <a:latin typeface="Times New Roman"/>
                <a:cs typeface="Times New Roman"/>
              </a:rPr>
              <a:t>e	t</a:t>
            </a:r>
            <a:r>
              <a:rPr lang="en-US"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lang="en-US"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s</a:t>
            </a:r>
            <a:r>
              <a:rPr lang="en-US" sz="2000" dirty="0">
                <a:solidFill>
                  <a:srgbClr val="2E2B1F"/>
                </a:solidFill>
                <a:latin typeface="Times New Roman"/>
                <a:cs typeface="Times New Roman"/>
              </a:rPr>
              <a:t>k	b</a:t>
            </a:r>
            <a:r>
              <a:rPr lang="en-US"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lang="en-US" sz="2000" dirty="0">
                <a:solidFill>
                  <a:srgbClr val="2E2B1F"/>
                </a:solidFill>
                <a:latin typeface="Times New Roman"/>
                <a:cs typeface="Times New Roman"/>
              </a:rPr>
              <a:t>co</a:t>
            </a:r>
            <a:r>
              <a:rPr lang="en-US"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lang="en-US" sz="2000" dirty="0">
                <a:solidFill>
                  <a:srgbClr val="2E2B1F"/>
                </a:solidFill>
                <a:latin typeface="Times New Roman"/>
                <a:cs typeface="Times New Roman"/>
              </a:rPr>
              <a:t>es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9190" y="3851910"/>
            <a:ext cx="347217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07360">
              <a:spcBef>
                <a:spcPts val="100"/>
              </a:spcBef>
              <a:tabLst>
                <a:tab pos="1334135" algn="l"/>
                <a:tab pos="2108200" algn="l"/>
                <a:tab pos="2908300" algn="l"/>
              </a:tabLst>
            </a:pP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near  i</a:t>
            </a:r>
            <a:r>
              <a:rPr lang="en-US" sz="2000" spc="-25" dirty="0">
                <a:solidFill>
                  <a:schemeClr val="bg1"/>
                </a:solidFill>
                <a:latin typeface="Times New Roman"/>
                <a:cs typeface="Times New Roman"/>
              </a:rPr>
              <a:t>m</a:t>
            </a:r>
            <a:r>
              <a:rPr lang="en-US"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po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ss</a:t>
            </a:r>
            <a:r>
              <a:rPr lang="en-US"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i</a:t>
            </a:r>
            <a:r>
              <a:rPr lang="en-US"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b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le	</a:t>
            </a:r>
            <a:r>
              <a:rPr lang="en-US"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w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hen	</a:t>
            </a:r>
            <a:r>
              <a:rPr lang="en-US"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w</a:t>
            </a:r>
            <a:r>
              <a:rPr lang="en-US" sz="2000" spc="-15" dirty="0">
                <a:solidFill>
                  <a:schemeClr val="bg1"/>
                </a:solidFill>
                <a:latin typeface="Times New Roman"/>
                <a:cs typeface="Times New Roman"/>
              </a:rPr>
              <a:t>e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’re	</a:t>
            </a:r>
            <a:r>
              <a:rPr lang="en-US"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f</a:t>
            </a:r>
            <a:r>
              <a:rPr lang="en-US" sz="2000" dirty="0">
                <a:solidFill>
                  <a:schemeClr val="bg1"/>
                </a:solidFill>
                <a:latin typeface="Times New Roman"/>
                <a:cs typeface="Times New Roman"/>
              </a:rPr>
              <a:t>aced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09190" y="4461510"/>
            <a:ext cx="347154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with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massive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number</a:t>
            </a:r>
            <a:r>
              <a:rPr sz="2000" spc="49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chemeClr val="bg1"/>
                </a:solidFill>
                <a:latin typeface="Times New Roman"/>
                <a:cs typeface="Times New Roman"/>
              </a:rPr>
              <a:t>of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 images,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say</a:t>
            </a:r>
            <a:r>
              <a:rPr sz="20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10,000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or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chemeClr val="bg1"/>
                </a:solidFill>
                <a:latin typeface="Times New Roman"/>
                <a:cs typeface="Times New Roman"/>
              </a:rPr>
              <a:t>even </a:t>
            </a:r>
            <a:r>
              <a:rPr sz="2000" dirty="0">
                <a:solidFill>
                  <a:schemeClr val="bg1"/>
                </a:solidFill>
                <a:latin typeface="Times New Roman"/>
                <a:cs typeface="Times New Roman"/>
              </a:rPr>
              <a:t> 100,000.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8861" y="499872"/>
            <a:ext cx="3070860" cy="2741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6291" y="478664"/>
            <a:ext cx="62210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0" dirty="0"/>
              <a:t>PR</a:t>
            </a:r>
            <a:r>
              <a:rPr spc="-105" dirty="0"/>
              <a:t>O</a:t>
            </a:r>
            <a:r>
              <a:rPr spc="-95" dirty="0"/>
              <a:t>BLE</a:t>
            </a:r>
            <a:r>
              <a:rPr dirty="0"/>
              <a:t>M</a:t>
            </a:r>
            <a:r>
              <a:rPr spc="-240" dirty="0"/>
              <a:t> </a:t>
            </a:r>
            <a:r>
              <a:rPr spc="-100" dirty="0"/>
              <a:t>S</a:t>
            </a:r>
            <a:r>
              <a:rPr spc="-420" dirty="0"/>
              <a:t>TA</a:t>
            </a:r>
            <a:r>
              <a:rPr spc="-95" dirty="0"/>
              <a:t>TE</a:t>
            </a:r>
            <a:r>
              <a:rPr spc="-100" dirty="0"/>
              <a:t>M</a:t>
            </a:r>
            <a:r>
              <a:rPr spc="-110" dirty="0"/>
              <a:t>EN</a:t>
            </a:r>
            <a:r>
              <a:rPr dirty="0"/>
              <a:t>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80615" y="1622806"/>
            <a:ext cx="7347584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point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of the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step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is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tumor identification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in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brain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MRI </a:t>
            </a:r>
            <a:r>
              <a:rPr sz="24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images. </a:t>
            </a:r>
            <a:endParaRPr lang="en-US" sz="2400" spc="-5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2700" marR="5080" algn="just">
              <a:spcBef>
                <a:spcPts val="100"/>
              </a:spcBef>
            </a:pP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we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design a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system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correctly classify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new brain </a:t>
            </a:r>
            <a:r>
              <a:rPr sz="2400" spc="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Times New Roman"/>
                <a:cs typeface="Times New Roman"/>
              </a:rPr>
              <a:t>Ultrasound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images into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images with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tumor 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and </a:t>
            </a:r>
            <a:r>
              <a:rPr sz="2400" b="1" spc="-5" dirty="0">
                <a:solidFill>
                  <a:schemeClr val="bg1"/>
                </a:solidFill>
                <a:latin typeface="Times New Roman"/>
                <a:cs typeface="Times New Roman"/>
              </a:rPr>
              <a:t>images without </a:t>
            </a:r>
            <a:r>
              <a:rPr sz="2400" b="1" dirty="0">
                <a:solidFill>
                  <a:schemeClr val="bg1"/>
                </a:solidFill>
                <a:latin typeface="Times New Roman"/>
                <a:cs typeface="Times New Roman"/>
              </a:rPr>
              <a:t> tumor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.–</a:t>
            </a:r>
            <a:r>
              <a:rPr sz="2400" spc="-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reframe</a:t>
            </a:r>
            <a:r>
              <a:rPr sz="2400" dirty="0">
                <a:solidFill>
                  <a:schemeClr val="bg1"/>
                </a:solidFill>
                <a:latin typeface="Times New Roman"/>
                <a:cs typeface="Times New Roman"/>
              </a:rPr>
              <a:t> the</a:t>
            </a:r>
            <a:r>
              <a:rPr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 statement</a:t>
            </a:r>
            <a:endParaRPr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50378"/>
            <a:ext cx="5270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IMAGE</a:t>
            </a:r>
            <a:r>
              <a:rPr spc="-80" dirty="0"/>
              <a:t> </a:t>
            </a:r>
            <a:r>
              <a:rPr spc="-5" dirty="0"/>
              <a:t>PREPROCESSING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375" y="2149243"/>
            <a:ext cx="9738360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5"/>
              </a:spcBef>
              <a:tabLst>
                <a:tab pos="8840470" algn="l"/>
              </a:tabLst>
            </a:pP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Our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consists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black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region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background,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want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remove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background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grab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only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top,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bottom,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left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right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side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brain.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this, </a:t>
            </a:r>
            <a:r>
              <a:rPr sz="2400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will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grayscale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guassian blurring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blur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thresholding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remove</a:t>
            </a:r>
            <a:r>
              <a:rPr sz="2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noisy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grab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	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largest </a:t>
            </a:r>
            <a:r>
              <a:rPr sz="2400" spc="-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contor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to find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extreme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points(Left,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right,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top,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bottom)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crop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brain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5677" y="4838763"/>
            <a:ext cx="3506749" cy="19047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007" y="18288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Literature survey: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D46F793-876C-2E00-CEEF-08138D180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756083"/>
              </p:ext>
            </p:extLst>
          </p:nvPr>
        </p:nvGraphicFramePr>
        <p:xfrm>
          <a:off x="692150" y="990599"/>
          <a:ext cx="11201400" cy="563880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115365">
                  <a:extLst>
                    <a:ext uri="{9D8B030D-6E8A-4147-A177-3AD203B41FA5}">
                      <a16:colId xmlns:a16="http://schemas.microsoft.com/office/drawing/2014/main" val="2275822303"/>
                    </a:ext>
                  </a:extLst>
                </a:gridCol>
                <a:gridCol w="3741759">
                  <a:extLst>
                    <a:ext uri="{9D8B030D-6E8A-4147-A177-3AD203B41FA5}">
                      <a16:colId xmlns:a16="http://schemas.microsoft.com/office/drawing/2014/main" val="2958087974"/>
                    </a:ext>
                  </a:extLst>
                </a:gridCol>
                <a:gridCol w="3376792">
                  <a:extLst>
                    <a:ext uri="{9D8B030D-6E8A-4147-A177-3AD203B41FA5}">
                      <a16:colId xmlns:a16="http://schemas.microsoft.com/office/drawing/2014/main" val="1039806301"/>
                    </a:ext>
                  </a:extLst>
                </a:gridCol>
                <a:gridCol w="2967484">
                  <a:extLst>
                    <a:ext uri="{9D8B030D-6E8A-4147-A177-3AD203B41FA5}">
                      <a16:colId xmlns:a16="http://schemas.microsoft.com/office/drawing/2014/main" val="303743210"/>
                    </a:ext>
                  </a:extLst>
                </a:gridCol>
              </a:tblGrid>
              <a:tr h="89163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S .No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Title of the paper with year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    Techniques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Drawbacks</a:t>
                      </a:r>
                      <a:endParaRPr lang="en-IN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776356"/>
                  </a:ext>
                </a:extLst>
              </a:tr>
              <a:tr h="1180643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Deep Learning-Based Deformable Image Registration of Infant Brain MR Images with Tissue Segmentation Chen Qin, </a:t>
                      </a:r>
                      <a:r>
                        <a:rPr lang="en-GB" sz="1000" dirty="0" err="1"/>
                        <a:t>Tianyuan</a:t>
                      </a:r>
                      <a:r>
                        <a:rPr lang="en-GB" sz="1000" dirty="0"/>
                        <a:t> Zhang, Yi Zhang, Ling Zhang, and </a:t>
                      </a:r>
                      <a:r>
                        <a:rPr lang="en-GB" sz="1000" dirty="0" err="1"/>
                        <a:t>Guoliang</a:t>
                      </a:r>
                      <a:r>
                        <a:rPr lang="en-GB" sz="1000" dirty="0"/>
                        <a:t> Fan ,published in IEEE transactions on medical imaging ,may 2021 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method uses a convolutional neural network (CNN)</a:t>
                      </a:r>
                      <a:endParaRPr lang="en-GB" dirty="0"/>
                    </a:p>
                    <a:p>
                      <a:r>
                        <a:rPr lang="en-GB" sz="1000" dirty="0"/>
                        <a:t>This paper proposes a deep learning-based deformable image registration (DIR) method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Requires large amount of training data to learn to perform well.</a:t>
                      </a:r>
                    </a:p>
                    <a:p>
                      <a:r>
                        <a:rPr lang="en-GB" sz="1000" dirty="0"/>
                        <a:t>It can be computationally expensive with an accuracy of 81 percentage.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014810"/>
                  </a:ext>
                </a:extLst>
              </a:tr>
              <a:tr h="891632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Infant Brain MRI Registration Using a Spatially-Adaptive Deep Learning Model published in IEEE transactions on medical imaging by </a:t>
                      </a:r>
                      <a:r>
                        <a:rPr lang="en-GB" sz="1000" dirty="0" err="1"/>
                        <a:t>qin</a:t>
                      </a:r>
                      <a:r>
                        <a:rPr lang="en-GB" sz="1000" dirty="0"/>
                        <a:t> et al (2022).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model uses a CNN to extract features from the images, and then a deformable registration network (DRN) to estimate the deformation field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It can be computationally expensive</a:t>
                      </a:r>
                    </a:p>
                    <a:p>
                      <a:r>
                        <a:rPr lang="en-GB" sz="1000" dirty="0"/>
                        <a:t>with an accuracy of 83 percentage</a:t>
                      </a:r>
                    </a:p>
                    <a:p>
                      <a:r>
                        <a:rPr lang="en-GB" sz="1000" dirty="0"/>
                        <a:t>It depends on the quality of tissue Segmentation.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71750"/>
                  </a:ext>
                </a:extLst>
              </a:tr>
              <a:tr h="891632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Recurrently Usable Deep Neural Network for the Registration of Infant Brain MR Images by </a:t>
                      </a:r>
                    </a:p>
                    <a:p>
                      <a:r>
                        <a:rPr lang="en-GB" sz="1000" dirty="0"/>
                        <a:t>Chen et al at IEEE </a:t>
                      </a:r>
                      <a:r>
                        <a:rPr lang="en-GB" sz="1000" dirty="0" err="1"/>
                        <a:t>transcations</a:t>
                      </a:r>
                      <a:r>
                        <a:rPr lang="en-GB" sz="1000" dirty="0"/>
                        <a:t> in 2022.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This paper is a precursor to the RTA-Net paper. It proposes a recurrently usable deep neural network for the registration of infant brain MRI images. 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It may not be suitable for all types of infant brain MRI images.</a:t>
                      </a:r>
                    </a:p>
                    <a:p>
                      <a:r>
                        <a:rPr lang="en-GB" sz="1000" dirty="0"/>
                        <a:t>Can be computationally expensive with an accuracy of 87 percentage.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09011"/>
                  </a:ext>
                </a:extLst>
              </a:tr>
              <a:tr h="891632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Learning-Based Deformable Image Registration for Infant Brain MRI by Integrating Random Forest with Auto-Context Model by </a:t>
                      </a:r>
                      <a:r>
                        <a:rPr lang="en-GB" sz="1000" dirty="0" err="1"/>
                        <a:t>quin</a:t>
                      </a:r>
                      <a:r>
                        <a:rPr lang="en-GB" sz="1000" dirty="0"/>
                        <a:t> et al in IEEE transactions at 2017.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This paper proposes a learning-based deformable image registration (DIR) method for infant brain MRI images by integrating random forest with an auto-context model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It is explicitly suitable for particular type of infant brain MRI images.</a:t>
                      </a:r>
                    </a:p>
                    <a:p>
                      <a:r>
                        <a:rPr lang="en-GB" sz="1000" dirty="0"/>
                        <a:t>Requires large amount of data with an accuracy of 85 percentage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948448"/>
                  </a:ext>
                </a:extLst>
              </a:tr>
              <a:tr h="891632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Deep Learning-Based Deformable Image Registration for Infant Brain MRI Using Cascaded Networks by Chen 
Qin Yi </a:t>
                      </a:r>
                      <a:r>
                        <a:rPr lang="en-GB" sz="1000" dirty="0" err="1"/>
                        <a:t>chang</a:t>
                      </a:r>
                      <a:r>
                        <a:rPr lang="en-GB" sz="1000" dirty="0"/>
                        <a:t> in IEEE transactions in 2022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The method uses a two-stage cascaded network </a:t>
                      </a:r>
                      <a:r>
                        <a:rPr lang="en-GB" sz="1000" dirty="0" err="1"/>
                        <a:t>architecture.The</a:t>
                      </a:r>
                      <a:r>
                        <a:rPr lang="en-GB" sz="1000" dirty="0"/>
                        <a:t> first stage network is trained to estimate a coarse deformation field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Training large amount of data is difficult and time consuming</a:t>
                      </a:r>
                    </a:p>
                    <a:p>
                      <a:r>
                        <a:rPr lang="en-GB" sz="1000" dirty="0"/>
                        <a:t>Can be computationally expensive</a:t>
                      </a:r>
                    </a:p>
                    <a:p>
                      <a:r>
                        <a:rPr lang="en-GB" sz="1000" dirty="0"/>
                        <a:t>With an accuracy 89 percentage.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236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014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4522293" cy="1107996"/>
          </a:xfrm>
        </p:spPr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1752600"/>
            <a:ext cx="10675619" cy="3959417"/>
          </a:xfrm>
        </p:spPr>
        <p:txBody>
          <a:bodyPr/>
          <a:lstStyle/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Malignant brain tumors are one of the leading causes of death in adults and children.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To identify a brain tumor, an MRI image is acquired and analyzed manually by an expert to find lesions.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Existing system, present two methods for the detection of brain tumors in medical images.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 first is based on Deep Learning through the U-net architecture that has proven its robustness vis-à-vis the segmentation of images, especially medical images.</a:t>
            </a:r>
          </a:p>
        </p:txBody>
      </p:sp>
    </p:spTree>
    <p:extLst>
      <p:ext uri="{BB962C8B-B14F-4D97-AF65-F5344CB8AC3E}">
        <p14:creationId xmlns:p14="http://schemas.microsoft.com/office/powerpoint/2010/main" val="218076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4217493" cy="1107996"/>
          </a:xfrm>
        </p:spPr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50" y="1725769"/>
            <a:ext cx="10675619" cy="4534959"/>
          </a:xfrm>
        </p:spPr>
        <p:txBody>
          <a:bodyPr/>
          <a:lstStyle/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the existing Detection approaches, the </a:t>
            </a:r>
            <a:r>
              <a:rPr lang="en-US" sz="2200" b="1" dirty="0">
                <a:solidFill>
                  <a:schemeClr val="bg1"/>
                </a:solidFill>
              </a:rPr>
              <a:t>multiresolution</a:t>
            </a:r>
            <a:r>
              <a:rPr lang="en-US" sz="2200" dirty="0">
                <a:solidFill>
                  <a:schemeClr val="bg1"/>
                </a:solidFill>
              </a:rPr>
              <a:t> fusion approaches have been widely used in the recent studies because of their </a:t>
            </a:r>
            <a:r>
              <a:rPr lang="en-US" sz="2200" b="1" dirty="0">
                <a:solidFill>
                  <a:schemeClr val="bg1"/>
                </a:solidFill>
              </a:rPr>
              <a:t>poor efficiency </a:t>
            </a:r>
            <a:r>
              <a:rPr lang="en-US" sz="2200" dirty="0">
                <a:solidFill>
                  <a:schemeClr val="bg1"/>
                </a:solidFill>
              </a:rPr>
              <a:t>and inconvenience and their fusion results are usually limited by the number of decomposition layer and the selection of fusion rules.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Also distort the spectral characteristics with different degree.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 detailed study indicated that the color distortion problem arises from the change of the saturation during the fusion process.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84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4598493" cy="1107996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50" y="1447800"/>
            <a:ext cx="10748009" cy="3495701"/>
          </a:xfrm>
        </p:spPr>
        <p:txBody>
          <a:bodyPr/>
          <a:lstStyle/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Deep learning (DL) enables a pre-trained Convolutional Neural Network (CNN) model for medical images. CNN-based classifier systems are fully automated and do not require manually segmented </a:t>
            </a:r>
            <a:r>
              <a:rPr lang="en-GB" dirty="0" err="1">
                <a:solidFill>
                  <a:schemeClr val="bg1"/>
                </a:solidFill>
              </a:rPr>
              <a:t>tumor</a:t>
            </a:r>
            <a:r>
              <a:rPr lang="en-GB" dirty="0">
                <a:solidFill>
                  <a:schemeClr val="bg1"/>
                </a:solidFill>
              </a:rPr>
              <a:t> regions. 
Some researchers have proposed different CNN architectures. Most of the CNN models reported multiclass brain </a:t>
            </a:r>
            <a:r>
              <a:rPr lang="en-GB" dirty="0" err="1">
                <a:solidFill>
                  <a:schemeClr val="bg1"/>
                </a:solidFill>
              </a:rPr>
              <a:t>tumor</a:t>
            </a:r>
            <a:r>
              <a:rPr lang="en-GB" dirty="0">
                <a:solidFill>
                  <a:schemeClr val="bg1"/>
                </a:solidFill>
              </a:rPr>
              <a:t> detection. 
 We have developed a </a:t>
            </a:r>
            <a:r>
              <a:rPr lang="en-GB" b="1" dirty="0">
                <a:solidFill>
                  <a:schemeClr val="bg1"/>
                </a:solidFill>
              </a:rPr>
              <a:t>hybrid model based on CNN</a:t>
            </a:r>
            <a:r>
              <a:rPr lang="en-GB" dirty="0">
                <a:solidFill>
                  <a:schemeClr val="bg1"/>
                </a:solidFill>
              </a:rPr>
              <a:t> for classifying the </a:t>
            </a:r>
            <a:r>
              <a:rPr lang="en-GB" dirty="0" err="1">
                <a:solidFill>
                  <a:schemeClr val="bg1"/>
                </a:solidFill>
              </a:rPr>
              <a:t>tumor</a:t>
            </a:r>
            <a:r>
              <a:rPr lang="en-GB" dirty="0">
                <a:solidFill>
                  <a:schemeClr val="bg1"/>
                </a:solidFill>
              </a:rPr>
              <a:t> type in the brain. </a:t>
            </a: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We have proposed an automated brain </a:t>
            </a:r>
            <a:r>
              <a:rPr lang="en-GB" dirty="0" err="1">
                <a:solidFill>
                  <a:schemeClr val="bg1"/>
                </a:solidFill>
              </a:rPr>
              <a:t>tumor</a:t>
            </a:r>
            <a:r>
              <a:rPr lang="en-GB" dirty="0">
                <a:solidFill>
                  <a:schemeClr val="bg1"/>
                </a:solidFill>
              </a:rPr>
              <a:t> detection mechanism applying CNN with transfer learning models on the Ultrasound brain image dataset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02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4961" y="375875"/>
            <a:ext cx="4612640" cy="458470"/>
            <a:chOff x="324611" y="405371"/>
            <a:chExt cx="4612640" cy="458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611" y="405371"/>
              <a:ext cx="4612386" cy="4579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887" y="428625"/>
              <a:ext cx="4552835" cy="4000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06550" y="1161034"/>
            <a:ext cx="146410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marR="5080" indent="-157480">
              <a:spcBef>
                <a:spcPts val="100"/>
              </a:spcBef>
            </a:pP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B</a:t>
            </a:r>
            <a:r>
              <a:rPr b="1" spc="-45" dirty="0">
                <a:solidFill>
                  <a:schemeClr val="bg1"/>
                </a:solidFill>
                <a:latin typeface="Calibri"/>
                <a:cs typeface="Calibri"/>
              </a:rPr>
              <a:t>r</a:t>
            </a: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ain</a:t>
            </a:r>
            <a:r>
              <a:rPr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/>
                <a:cs typeface="Calibri"/>
              </a:rPr>
              <a:t>Ultrasound</a:t>
            </a: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chemeClr val="bg1"/>
                </a:solidFill>
                <a:latin typeface="Calibri"/>
                <a:cs typeface="Calibri"/>
              </a:rPr>
              <a:t>images</a:t>
            </a:r>
            <a:endParaRPr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44850" y="5820155"/>
            <a:ext cx="768350" cy="76200"/>
          </a:xfrm>
          <a:custGeom>
            <a:avLst/>
            <a:gdLst/>
            <a:ahLst/>
            <a:cxnLst/>
            <a:rect l="l" t="t" r="r" b="b"/>
            <a:pathLst>
              <a:path w="768350" h="76200">
                <a:moveTo>
                  <a:pt x="692150" y="0"/>
                </a:moveTo>
                <a:lnTo>
                  <a:pt x="692150" y="76200"/>
                </a:lnTo>
                <a:lnTo>
                  <a:pt x="755650" y="44450"/>
                </a:lnTo>
                <a:lnTo>
                  <a:pt x="704850" y="44450"/>
                </a:lnTo>
                <a:lnTo>
                  <a:pt x="704850" y="31750"/>
                </a:lnTo>
                <a:lnTo>
                  <a:pt x="755650" y="31750"/>
                </a:lnTo>
                <a:lnTo>
                  <a:pt x="692150" y="0"/>
                </a:lnTo>
                <a:close/>
              </a:path>
              <a:path w="768350" h="76200">
                <a:moveTo>
                  <a:pt x="6921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92150" y="44450"/>
                </a:lnTo>
                <a:lnTo>
                  <a:pt x="692150" y="31750"/>
                </a:lnTo>
                <a:close/>
              </a:path>
              <a:path w="768350" h="76200">
                <a:moveTo>
                  <a:pt x="755650" y="31750"/>
                </a:moveTo>
                <a:lnTo>
                  <a:pt x="704850" y="31750"/>
                </a:lnTo>
                <a:lnTo>
                  <a:pt x="704850" y="44450"/>
                </a:lnTo>
                <a:lnTo>
                  <a:pt x="755650" y="44450"/>
                </a:lnTo>
                <a:lnTo>
                  <a:pt x="768350" y="38100"/>
                </a:lnTo>
                <a:lnTo>
                  <a:pt x="7556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1338" y="2286001"/>
            <a:ext cx="2148840" cy="33919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28930">
              <a:spcBef>
                <a:spcPts val="245"/>
              </a:spcBef>
            </a:pPr>
            <a:r>
              <a:rPr sz="2000" b="1" spc="-5" dirty="0">
                <a:latin typeface="Calibri"/>
                <a:cs typeface="Calibri"/>
              </a:rPr>
              <a:t>Image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dataset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72966" y="2799589"/>
            <a:ext cx="929640" cy="60080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algn="ctr">
              <a:spcBef>
                <a:spcPts val="325"/>
              </a:spcBef>
            </a:pPr>
            <a:r>
              <a:rPr sz="1400" b="1" spc="-15" dirty="0">
                <a:latin typeface="Times New Roman"/>
                <a:cs typeface="Times New Roman"/>
              </a:rPr>
              <a:t>Training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spcBef>
                <a:spcPts val="1000"/>
              </a:spcBef>
            </a:pPr>
            <a:r>
              <a:rPr sz="1400" b="1" dirty="0">
                <a:latin typeface="Times New Roman"/>
                <a:cs typeface="Times New Roman"/>
              </a:rPr>
              <a:t>data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7978" y="1143001"/>
            <a:ext cx="2571115" cy="310983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68630">
              <a:spcBef>
                <a:spcPts val="265"/>
              </a:spcBef>
            </a:pPr>
            <a:r>
              <a:rPr b="1" spc="-10" dirty="0">
                <a:latin typeface="Calibri"/>
                <a:cs typeface="Calibri"/>
              </a:rPr>
              <a:t>Image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Processing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44338" y="2785872"/>
            <a:ext cx="929640" cy="60016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270" algn="ctr">
              <a:spcBef>
                <a:spcPts val="320"/>
              </a:spcBef>
            </a:pPr>
            <a:r>
              <a:rPr sz="1400" b="1" spc="-20" dirty="0">
                <a:latin typeface="Times New Roman"/>
                <a:cs typeface="Times New Roman"/>
              </a:rPr>
              <a:t>Testing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spcBef>
                <a:spcPts val="1000"/>
              </a:spcBef>
            </a:pPr>
            <a:r>
              <a:rPr sz="1400" b="1" dirty="0">
                <a:latin typeface="Times New Roman"/>
                <a:cs typeface="Times New Roman"/>
              </a:rPr>
              <a:t>data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92878" y="1642872"/>
            <a:ext cx="76200" cy="671830"/>
          </a:xfrm>
          <a:custGeom>
            <a:avLst/>
            <a:gdLst/>
            <a:ahLst/>
            <a:cxnLst/>
            <a:rect l="l" t="t" r="r" b="b"/>
            <a:pathLst>
              <a:path w="76200" h="671830">
                <a:moveTo>
                  <a:pt x="31750" y="595249"/>
                </a:moveTo>
                <a:lnTo>
                  <a:pt x="0" y="595249"/>
                </a:lnTo>
                <a:lnTo>
                  <a:pt x="38100" y="671449"/>
                </a:lnTo>
                <a:lnTo>
                  <a:pt x="69850" y="607949"/>
                </a:lnTo>
                <a:lnTo>
                  <a:pt x="31750" y="607949"/>
                </a:lnTo>
                <a:lnTo>
                  <a:pt x="31750" y="595249"/>
                </a:lnTo>
                <a:close/>
              </a:path>
              <a:path w="76200" h="671830">
                <a:moveTo>
                  <a:pt x="44450" y="0"/>
                </a:moveTo>
                <a:lnTo>
                  <a:pt x="31750" y="0"/>
                </a:lnTo>
                <a:lnTo>
                  <a:pt x="31750" y="607949"/>
                </a:lnTo>
                <a:lnTo>
                  <a:pt x="44450" y="607949"/>
                </a:lnTo>
                <a:lnTo>
                  <a:pt x="44450" y="0"/>
                </a:lnTo>
                <a:close/>
              </a:path>
              <a:path w="76200" h="671830">
                <a:moveTo>
                  <a:pt x="76200" y="595249"/>
                </a:moveTo>
                <a:lnTo>
                  <a:pt x="44450" y="595249"/>
                </a:lnTo>
                <a:lnTo>
                  <a:pt x="44450" y="607949"/>
                </a:lnTo>
                <a:lnTo>
                  <a:pt x="69850" y="607949"/>
                </a:lnTo>
                <a:lnTo>
                  <a:pt x="76200" y="5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64505" y="3614928"/>
            <a:ext cx="76200" cy="671830"/>
          </a:xfrm>
          <a:custGeom>
            <a:avLst/>
            <a:gdLst/>
            <a:ahLst/>
            <a:cxnLst/>
            <a:rect l="l" t="t" r="r" b="b"/>
            <a:pathLst>
              <a:path w="76200" h="671829">
                <a:moveTo>
                  <a:pt x="31750" y="595249"/>
                </a:moveTo>
                <a:lnTo>
                  <a:pt x="0" y="595249"/>
                </a:lnTo>
                <a:lnTo>
                  <a:pt x="38100" y="671449"/>
                </a:lnTo>
                <a:lnTo>
                  <a:pt x="69850" y="607949"/>
                </a:lnTo>
                <a:lnTo>
                  <a:pt x="31750" y="607949"/>
                </a:lnTo>
                <a:lnTo>
                  <a:pt x="31750" y="595249"/>
                </a:lnTo>
                <a:close/>
              </a:path>
              <a:path w="76200" h="671829">
                <a:moveTo>
                  <a:pt x="44450" y="0"/>
                </a:moveTo>
                <a:lnTo>
                  <a:pt x="31750" y="0"/>
                </a:lnTo>
                <a:lnTo>
                  <a:pt x="31750" y="607949"/>
                </a:lnTo>
                <a:lnTo>
                  <a:pt x="44450" y="607949"/>
                </a:lnTo>
                <a:lnTo>
                  <a:pt x="44450" y="0"/>
                </a:lnTo>
                <a:close/>
              </a:path>
              <a:path w="76200" h="671829">
                <a:moveTo>
                  <a:pt x="76200" y="595249"/>
                </a:moveTo>
                <a:lnTo>
                  <a:pt x="44450" y="595249"/>
                </a:lnTo>
                <a:lnTo>
                  <a:pt x="44450" y="607949"/>
                </a:lnTo>
                <a:lnTo>
                  <a:pt x="69850" y="607949"/>
                </a:lnTo>
                <a:lnTo>
                  <a:pt x="76200" y="5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31233" y="4299203"/>
            <a:ext cx="2147570" cy="65338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572135">
              <a:spcBef>
                <a:spcPts val="295"/>
              </a:spcBef>
            </a:pPr>
            <a:r>
              <a:rPr sz="2000" b="1" dirty="0">
                <a:latin typeface="Times New Roman"/>
                <a:cs typeface="Times New Roman"/>
              </a:rPr>
              <a:t>Learning</a:t>
            </a:r>
            <a:endParaRPr sz="2000" dirty="0">
              <a:latin typeface="Times New Roman"/>
              <a:cs typeface="Times New Roman"/>
            </a:endParaRPr>
          </a:p>
          <a:p>
            <a:pPr marL="536575"/>
            <a:r>
              <a:rPr sz="2000" b="1" dirty="0">
                <a:latin typeface="Times New Roman"/>
                <a:cs typeface="Times New Roman"/>
              </a:rPr>
              <a:t>algorithm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6157" y="5000117"/>
            <a:ext cx="76200" cy="429259"/>
          </a:xfrm>
          <a:custGeom>
            <a:avLst/>
            <a:gdLst/>
            <a:ahLst/>
            <a:cxnLst/>
            <a:rect l="l" t="t" r="r" b="b"/>
            <a:pathLst>
              <a:path w="76200" h="429260">
                <a:moveTo>
                  <a:pt x="0" y="351789"/>
                </a:moveTo>
                <a:lnTo>
                  <a:pt x="36448" y="428751"/>
                </a:lnTo>
                <a:lnTo>
                  <a:pt x="69898" y="365378"/>
                </a:lnTo>
                <a:lnTo>
                  <a:pt x="44195" y="365378"/>
                </a:lnTo>
                <a:lnTo>
                  <a:pt x="31495" y="365124"/>
                </a:lnTo>
                <a:lnTo>
                  <a:pt x="31777" y="352478"/>
                </a:lnTo>
                <a:lnTo>
                  <a:pt x="0" y="351789"/>
                </a:lnTo>
                <a:close/>
              </a:path>
              <a:path w="76200" h="429260">
                <a:moveTo>
                  <a:pt x="31777" y="352478"/>
                </a:moveTo>
                <a:lnTo>
                  <a:pt x="31495" y="365124"/>
                </a:lnTo>
                <a:lnTo>
                  <a:pt x="44195" y="365378"/>
                </a:lnTo>
                <a:lnTo>
                  <a:pt x="44477" y="352753"/>
                </a:lnTo>
                <a:lnTo>
                  <a:pt x="31777" y="352478"/>
                </a:lnTo>
                <a:close/>
              </a:path>
              <a:path w="76200" h="429260">
                <a:moveTo>
                  <a:pt x="44477" y="352753"/>
                </a:moveTo>
                <a:lnTo>
                  <a:pt x="44195" y="365378"/>
                </a:lnTo>
                <a:lnTo>
                  <a:pt x="69898" y="365378"/>
                </a:lnTo>
                <a:lnTo>
                  <a:pt x="76200" y="353440"/>
                </a:lnTo>
                <a:lnTo>
                  <a:pt x="44477" y="352753"/>
                </a:lnTo>
                <a:close/>
              </a:path>
              <a:path w="76200" h="429260">
                <a:moveTo>
                  <a:pt x="39623" y="0"/>
                </a:moveTo>
                <a:lnTo>
                  <a:pt x="31777" y="352478"/>
                </a:lnTo>
                <a:lnTo>
                  <a:pt x="44477" y="352753"/>
                </a:lnTo>
                <a:lnTo>
                  <a:pt x="52323" y="253"/>
                </a:lnTo>
                <a:lnTo>
                  <a:pt x="396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1233" y="5430011"/>
            <a:ext cx="2147570" cy="65338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270" algn="ctr">
              <a:spcBef>
                <a:spcPts val="295"/>
              </a:spcBef>
            </a:pPr>
            <a:r>
              <a:rPr sz="2000" b="1" spc="-5" dirty="0">
                <a:latin typeface="Times New Roman"/>
                <a:cs typeface="Times New Roman"/>
              </a:rPr>
              <a:t>Classification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model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6899" y="5662676"/>
            <a:ext cx="1162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solidFill>
                  <a:schemeClr val="bg1"/>
                </a:solidFill>
                <a:latin typeface="Calibri"/>
                <a:cs typeface="Calibri"/>
              </a:rPr>
              <a:t>Image</a:t>
            </a:r>
            <a:r>
              <a:rPr b="1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bg1"/>
                </a:solidFill>
                <a:latin typeface="Calibri"/>
                <a:cs typeface="Calibri"/>
              </a:rPr>
              <a:t>input</a:t>
            </a:r>
            <a:endParaRPr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01594" y="1389888"/>
            <a:ext cx="768350" cy="76200"/>
          </a:xfrm>
          <a:custGeom>
            <a:avLst/>
            <a:gdLst/>
            <a:ahLst/>
            <a:cxnLst/>
            <a:rect l="l" t="t" r="r" b="b"/>
            <a:pathLst>
              <a:path w="768350" h="76200">
                <a:moveTo>
                  <a:pt x="692150" y="0"/>
                </a:moveTo>
                <a:lnTo>
                  <a:pt x="692150" y="76200"/>
                </a:lnTo>
                <a:lnTo>
                  <a:pt x="755650" y="44450"/>
                </a:lnTo>
                <a:lnTo>
                  <a:pt x="704850" y="44450"/>
                </a:lnTo>
                <a:lnTo>
                  <a:pt x="704850" y="31750"/>
                </a:lnTo>
                <a:lnTo>
                  <a:pt x="755650" y="31750"/>
                </a:lnTo>
                <a:lnTo>
                  <a:pt x="692150" y="0"/>
                </a:lnTo>
                <a:close/>
              </a:path>
              <a:path w="768350" h="76200">
                <a:moveTo>
                  <a:pt x="6921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92150" y="44450"/>
                </a:lnTo>
                <a:lnTo>
                  <a:pt x="692150" y="31750"/>
                </a:lnTo>
                <a:close/>
              </a:path>
              <a:path w="768350" h="76200">
                <a:moveTo>
                  <a:pt x="755650" y="31750"/>
                </a:moveTo>
                <a:lnTo>
                  <a:pt x="704850" y="31750"/>
                </a:lnTo>
                <a:lnTo>
                  <a:pt x="704850" y="44450"/>
                </a:lnTo>
                <a:lnTo>
                  <a:pt x="755650" y="44450"/>
                </a:lnTo>
                <a:lnTo>
                  <a:pt x="768350" y="38100"/>
                </a:lnTo>
                <a:lnTo>
                  <a:pt x="7556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90741" y="5820155"/>
            <a:ext cx="768350" cy="76200"/>
          </a:xfrm>
          <a:custGeom>
            <a:avLst/>
            <a:gdLst/>
            <a:ahLst/>
            <a:cxnLst/>
            <a:rect l="l" t="t" r="r" b="b"/>
            <a:pathLst>
              <a:path w="768350" h="76200">
                <a:moveTo>
                  <a:pt x="692150" y="0"/>
                </a:moveTo>
                <a:lnTo>
                  <a:pt x="692150" y="76200"/>
                </a:lnTo>
                <a:lnTo>
                  <a:pt x="755650" y="44450"/>
                </a:lnTo>
                <a:lnTo>
                  <a:pt x="704850" y="44450"/>
                </a:lnTo>
                <a:lnTo>
                  <a:pt x="704850" y="31750"/>
                </a:lnTo>
                <a:lnTo>
                  <a:pt x="755650" y="31750"/>
                </a:lnTo>
                <a:lnTo>
                  <a:pt x="692150" y="0"/>
                </a:lnTo>
                <a:close/>
              </a:path>
              <a:path w="768350" h="76200">
                <a:moveTo>
                  <a:pt x="69215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92150" y="44450"/>
                </a:lnTo>
                <a:lnTo>
                  <a:pt x="692150" y="31750"/>
                </a:lnTo>
                <a:close/>
              </a:path>
              <a:path w="768350" h="76200">
                <a:moveTo>
                  <a:pt x="755650" y="31750"/>
                </a:moveTo>
                <a:lnTo>
                  <a:pt x="704850" y="31750"/>
                </a:lnTo>
                <a:lnTo>
                  <a:pt x="704850" y="44450"/>
                </a:lnTo>
                <a:lnTo>
                  <a:pt x="755650" y="44450"/>
                </a:lnTo>
                <a:lnTo>
                  <a:pt x="768350" y="38100"/>
                </a:lnTo>
                <a:lnTo>
                  <a:pt x="7556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6684" y="5662676"/>
            <a:ext cx="16313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solidFill>
                  <a:schemeClr val="bg1"/>
                </a:solidFill>
                <a:latin typeface="Calibri"/>
                <a:cs typeface="Calibri"/>
              </a:rPr>
              <a:t>Predicted</a:t>
            </a:r>
            <a:r>
              <a:rPr b="1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chemeClr val="bg1"/>
                </a:solidFill>
                <a:latin typeface="Calibri"/>
                <a:cs typeface="Calibri"/>
              </a:rPr>
              <a:t>output</a:t>
            </a:r>
            <a:endParaRPr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C425-461B-5763-C931-48F5E000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57" y="599301"/>
            <a:ext cx="7646493" cy="848500"/>
          </a:xfrm>
        </p:spPr>
        <p:txBody>
          <a:bodyPr/>
          <a:lstStyle/>
          <a:p>
            <a:r>
              <a:rPr lang="en-IN" dirty="0"/>
              <a:t>MODIFIED </a:t>
            </a:r>
            <a:r>
              <a:rPr lang="en-GB" dirty="0"/>
              <a:t>CNN-ARCHITECTURE</a:t>
            </a:r>
            <a:endParaRPr 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41E691D-9CD8-EBC1-2CFC-5CFBD16F3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230" y="1883078"/>
            <a:ext cx="6592585" cy="3614209"/>
          </a:xfrm>
        </p:spPr>
      </p:pic>
    </p:spTree>
    <p:extLst>
      <p:ext uri="{BB962C8B-B14F-4D97-AF65-F5344CB8AC3E}">
        <p14:creationId xmlns:p14="http://schemas.microsoft.com/office/powerpoint/2010/main" val="2731898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50378"/>
            <a:ext cx="4890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D</a:t>
            </a:r>
            <a:r>
              <a:rPr spc="-415" dirty="0"/>
              <a:t>A</a:t>
            </a:r>
            <a:r>
              <a:rPr spc="-290" dirty="0"/>
              <a:t>T</a:t>
            </a:r>
            <a:r>
              <a:rPr dirty="0"/>
              <a:t>A</a:t>
            </a:r>
            <a:r>
              <a:rPr spc="-405" dirty="0"/>
              <a:t> </a:t>
            </a:r>
            <a:r>
              <a:rPr spc="-5" dirty="0"/>
              <a:t>AU</a:t>
            </a:r>
            <a:r>
              <a:rPr spc="5" dirty="0"/>
              <a:t>G</a:t>
            </a:r>
            <a:r>
              <a:rPr spc="-5" dirty="0"/>
              <a:t>MEN</a:t>
            </a:r>
            <a:r>
              <a:rPr spc="-285" dirty="0"/>
              <a:t>T</a:t>
            </a:r>
            <a:r>
              <a:rPr spc="-415" dirty="0"/>
              <a:t>A</a:t>
            </a:r>
            <a:r>
              <a:rPr spc="-5" dirty="0"/>
              <a:t>TI</a:t>
            </a:r>
            <a:r>
              <a:rPr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724022"/>
            <a:ext cx="9849485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classes: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yes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 no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contains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253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Brain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MRI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Images.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class yes contains 155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Brain MRI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Images that are tumorous and the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class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 contains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98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Brain MRI Images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 are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non-tumorous.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Since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this is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dataset,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we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use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 augmentation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 order to create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images.</a:t>
            </a:r>
            <a:endParaRPr sz="2400">
              <a:latin typeface="Times New Roman"/>
              <a:cs typeface="Times New Roman"/>
            </a:endParaRPr>
          </a:p>
          <a:p>
            <a:pPr marL="12700" marR="513080">
              <a:lnSpc>
                <a:spcPct val="100000"/>
              </a:lnSpc>
              <a:spcBef>
                <a:spcPts val="1000"/>
              </a:spcBef>
            </a:pPr>
            <a:r>
              <a:rPr sz="2400" spc="-1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also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rid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imbalanced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data as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61%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 previous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contains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yes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data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augmentation will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also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solve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50378"/>
            <a:ext cx="7340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CNN-ARCHITECTURE-1</a:t>
            </a:r>
            <a:r>
              <a:rPr spc="-35" dirty="0"/>
              <a:t> </a:t>
            </a:r>
            <a:r>
              <a:rPr b="1" spc="-5" dirty="0">
                <a:latin typeface="Times New Roman"/>
                <a:cs typeface="Times New Roman"/>
              </a:rPr>
              <a:t>CONV(7,7)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4194" y="2066061"/>
            <a:ext cx="7805153" cy="45626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5856" y="699744"/>
            <a:ext cx="511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CNN-ARCHITECTURE</a:t>
            </a:r>
            <a:r>
              <a:rPr spc="-70" dirty="0"/>
              <a:t> </a:t>
            </a:r>
            <a:r>
              <a:rPr dirty="0"/>
              <a:t>-1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5856" y="1747342"/>
            <a:ext cx="10788650" cy="4229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20345">
              <a:lnSpc>
                <a:spcPct val="100000"/>
              </a:lnSpc>
              <a:spcBef>
                <a:spcPts val="90"/>
              </a:spcBef>
            </a:pP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(image)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shape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(240,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240,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3)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Calibri"/>
                <a:cs typeface="Calibri"/>
              </a:rPr>
              <a:t>fed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neural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network.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And,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goes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following </a:t>
            </a:r>
            <a:r>
              <a:rPr sz="1750" spc="-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layers:</a:t>
            </a:r>
            <a:endParaRPr sz="1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 Padding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a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pool size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(2,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2).</a:t>
            </a:r>
            <a:endParaRPr sz="1750">
              <a:latin typeface="Calibri"/>
              <a:cs typeface="Calibri"/>
            </a:endParaRPr>
          </a:p>
          <a:p>
            <a:pPr marL="12700" marR="2996565">
              <a:lnSpc>
                <a:spcPct val="142600"/>
              </a:lnSpc>
              <a:spcBef>
                <a:spcPts val="40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convolutional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filters,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b="1" spc="5" dirty="0">
                <a:solidFill>
                  <a:srgbClr val="FFFFFF"/>
                </a:solidFill>
                <a:latin typeface="Calibri"/>
                <a:cs typeface="Calibri"/>
              </a:rPr>
              <a:t> filter</a:t>
            </a:r>
            <a:r>
              <a:rPr sz="19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19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1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10" dirty="0">
                <a:solidFill>
                  <a:srgbClr val="FFFFFF"/>
                </a:solidFill>
                <a:latin typeface="Calibri"/>
                <a:cs typeface="Calibri"/>
              </a:rPr>
              <a:t>(7,</a:t>
            </a:r>
            <a:r>
              <a:rPr sz="19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10" dirty="0">
                <a:solidFill>
                  <a:srgbClr val="FFFFFF"/>
                </a:solidFill>
                <a:latin typeface="Calibri"/>
                <a:cs typeface="Calibri"/>
              </a:rPr>
              <a:t>7)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a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stride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equal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1. </a:t>
            </a:r>
            <a:r>
              <a:rPr sz="1750" spc="-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normalization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to normalize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pixel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speed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computation.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Calibri"/>
                <a:cs typeface="Calibri"/>
              </a:rPr>
              <a:t>ReLU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17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45" dirty="0">
                <a:solidFill>
                  <a:srgbClr val="FFFFFF"/>
                </a:solidFill>
                <a:latin typeface="Calibri"/>
                <a:cs typeface="Calibri"/>
              </a:rPr>
              <a:t>layer.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 Max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Pooling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with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f=4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s=4.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 Max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Pooling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with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f=4 and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s=4,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same as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before.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750" spc="-25" dirty="0">
                <a:solidFill>
                  <a:srgbClr val="FFFFFF"/>
                </a:solidFill>
                <a:latin typeface="Calibri"/>
                <a:cs typeface="Calibri"/>
              </a:rPr>
              <a:t>flatten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Calibri"/>
                <a:cs typeface="Calibri"/>
              </a:rPr>
              <a:t>flatten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3-dimensional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one-dimensional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40" dirty="0">
                <a:solidFill>
                  <a:srgbClr val="FFFFFF"/>
                </a:solidFill>
                <a:latin typeface="Calibri"/>
                <a:cs typeface="Calibri"/>
              </a:rPr>
              <a:t>vector.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ts val="2090"/>
              </a:lnSpc>
              <a:spcBef>
                <a:spcPts val="1040"/>
              </a:spcBef>
            </a:pP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Dense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(output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unit)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7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connected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17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neuron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sigmoid</a:t>
            </a:r>
            <a:r>
              <a:rPr sz="17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(since</a:t>
            </a:r>
            <a:r>
              <a:rPr sz="17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 binary</a:t>
            </a:r>
            <a:r>
              <a:rPr sz="1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FFFFFF"/>
                </a:solidFill>
                <a:latin typeface="Calibri"/>
                <a:cs typeface="Calibri"/>
              </a:rPr>
              <a:t>classification </a:t>
            </a:r>
            <a:r>
              <a:rPr sz="1750" spc="-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Calibri"/>
                <a:cs typeface="Calibri"/>
              </a:rPr>
              <a:t>task).</a:t>
            </a:r>
            <a:endParaRPr sz="1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7478" y="2769857"/>
            <a:ext cx="3132708" cy="18313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50378"/>
            <a:ext cx="4891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ACCURACY-</a:t>
            </a:r>
            <a:r>
              <a:rPr b="1" spc="-25" dirty="0">
                <a:latin typeface="Times New Roman"/>
                <a:cs typeface="Times New Roman"/>
              </a:rPr>
              <a:t>CONV(7,7)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135144"/>
            <a:ext cx="6209665" cy="233172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After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running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through multiple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epochs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12700" marR="410845">
              <a:lnSpc>
                <a:spcPct val="100000"/>
              </a:lnSpc>
              <a:spcBef>
                <a:spcPts val="1000"/>
              </a:spcBef>
            </a:pP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epochs training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and </a:t>
            </a:r>
            <a:r>
              <a:rPr sz="2000"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decreases.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accuracy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model is quite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 9</a:t>
            </a: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.3%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2000"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000" spc="-5" dirty="0">
                <a:solidFill>
                  <a:srgbClr val="FFFFFF"/>
                </a:solidFill>
                <a:latin typeface="Calibri"/>
                <a:cs typeface="Calibri"/>
              </a:rPr>
              <a:t>98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is </a:t>
            </a:r>
            <a:r>
              <a:rPr lang="en-US" sz="1800" spc="-5" dirty="0">
                <a:solidFill>
                  <a:srgbClr val="FFFFFF"/>
                </a:solidFill>
                <a:latin typeface="Calibri"/>
                <a:cs typeface="Calibri"/>
              </a:rPr>
              <a:t>97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%.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074" y="2066048"/>
            <a:ext cx="3789718" cy="43066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CACC-D7A9-DA1C-0F54-F4C09D46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57" y="599300"/>
            <a:ext cx="6655893" cy="553998"/>
          </a:xfrm>
        </p:spPr>
        <p:txBody>
          <a:bodyPr/>
          <a:lstStyle/>
          <a:p>
            <a:r>
              <a:rPr lang="en-US" dirty="0"/>
              <a:t>Modules of the project: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10C8-6496-AAB4-218C-E266B222D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540" y="2132248"/>
            <a:ext cx="10675619" cy="21544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Data collection and </a:t>
            </a:r>
            <a:r>
              <a:rPr lang="en-GB" sz="2800" dirty="0" err="1">
                <a:solidFill>
                  <a:schemeClr val="bg1"/>
                </a:solidFill>
              </a:rPr>
              <a:t>preprocessing</a:t>
            </a:r>
            <a:endParaRPr lang="en-GB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Develop network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Network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Network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Results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059641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550" y="1600200"/>
            <a:ext cx="10675619" cy="2335529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First MRI and Ultra Sounds has been chosen and resized to equal.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Object of interest on MRI is obtained through region mapping and low and high frequency components are separated through filtering.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Next, the Ultra Sound is transformed into IHS and low and high frequency separation is obtained through HUE angle.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Apply the Dual Tree Framelet Transform on both images to transform from spatial to frequency domain.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Perform averaging over frequency components to fuse the images.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Apply Inverse Framelet Transform again to convert form frequency to spatial domain.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Adjust the structural information in the gray matter (GM) area and then patching the spectral information in the white matter (WM) area.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bg1"/>
                </a:solidFill>
                <a:latin typeface="Calibri" panose="020F0502020204030204" pitchFamily="34" charset="0"/>
              </a:rPr>
              <a:t>Inverse IHS Transform is applied to convert fused model into original color model.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</a:t>
            </a:r>
          </a:p>
        </p:txBody>
      </p:sp>
    </p:spTree>
    <p:extLst>
      <p:ext uri="{BB962C8B-B14F-4D97-AF65-F5344CB8AC3E}">
        <p14:creationId xmlns:p14="http://schemas.microsoft.com/office/powerpoint/2010/main" val="3991999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540" y="2132248"/>
            <a:ext cx="10675619" cy="283154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</a:rPr>
              <a:t>The proposed image fusion has several advantages in the field of digital image processing.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</a:rPr>
              <a:t>The useful information can be gathered into a single image from multiple images which reduce the time complexity of processing.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</a:rPr>
              <a:t>The image fusion improves the reliability of the resultant image by grouping the redundant information into a single image.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Calibri" panose="020F0502020204030204" pitchFamily="34" charset="0"/>
              </a:rPr>
              <a:t>The capability of the image can be improved by having the complementary information in the fused image.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4065093" cy="61990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ADVAN TAGES: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49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b="1" u="sng" dirty="0">
                <a:solidFill>
                  <a:schemeClr val="bg1"/>
                </a:solidFill>
              </a:rPr>
              <a:t>HARDWARE REQUIREMENTS:</a:t>
            </a:r>
            <a:endParaRPr lang="en-US" sz="2200" dirty="0">
              <a:solidFill>
                <a:schemeClr val="bg1"/>
              </a:solidFill>
            </a:endParaRP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System  		 : Pentium IV 2.4 GHz.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Hard Disk               :  40 GB.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Floppy Drive           :  44 Mb.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Monitor                   : 15 VGA Color.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Mouse :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Ram : 512 Mb.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MOBILE : ANDROID</a:t>
            </a:r>
          </a:p>
          <a:p>
            <a:pPr algn="just"/>
            <a:r>
              <a:rPr lang="en-US" sz="2200" b="1" u="sng" dirty="0">
                <a:solidFill>
                  <a:schemeClr val="bg1"/>
                </a:solidFill>
              </a:rPr>
              <a:t>SOFTWARE REQUIREMENTS:</a:t>
            </a:r>
            <a:endParaRPr lang="en-US" sz="2200" dirty="0">
              <a:solidFill>
                <a:schemeClr val="bg1"/>
              </a:solidFill>
            </a:endParaRP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Operating system : Windows 7.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Coding Language : Python</a:t>
            </a:r>
          </a:p>
          <a:p>
            <a:pPr lvl="0" algn="just"/>
            <a:r>
              <a:rPr lang="en-US" sz="2200" dirty="0">
                <a:solidFill>
                  <a:schemeClr val="bg1"/>
                </a:solidFill>
              </a:rPr>
              <a:t>IDE : Anaconda Ide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5436693" cy="5740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Hardware and Software Specification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93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1050378"/>
            <a:ext cx="5796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FURTHER</a:t>
            </a:r>
            <a:r>
              <a:rPr spc="-65" dirty="0"/>
              <a:t> </a:t>
            </a:r>
            <a:r>
              <a:rPr spc="-5" dirty="0"/>
              <a:t>IMPROVEMENTS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883291"/>
            <a:ext cx="9592945" cy="11988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2400" spc="-10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implement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various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other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Neural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network Architecture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AlexNet,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ResNet</a:t>
            </a:r>
            <a:endParaRPr sz="2400">
              <a:latin typeface="Calibri"/>
              <a:cs typeface="Calibri"/>
            </a:endParaRPr>
          </a:p>
          <a:p>
            <a:pPr marL="12700" marR="158750">
              <a:lnSpc>
                <a:spcPts val="308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,VGG-16,19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best </a:t>
            </a:r>
            <a:r>
              <a:rPr sz="2400" spc="-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MRI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Brain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Images.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257" y="599300"/>
            <a:ext cx="3379293" cy="1107996"/>
          </a:xfrm>
        </p:spPr>
        <p:txBody>
          <a:bodyPr/>
          <a:lstStyle/>
          <a:p>
            <a:r>
              <a:rPr lang="en-US" dirty="0"/>
              <a:t>CONCLUTION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150" y="1524000"/>
            <a:ext cx="10675619" cy="4604337"/>
          </a:xfrm>
        </p:spPr>
        <p:txBody>
          <a:bodyPr/>
          <a:lstStyle/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this project, we propose a new fusion method for fusing Ultrasound and MR Tumor images based on </a:t>
            </a:r>
            <a:r>
              <a:rPr lang="en-US" sz="2200" dirty="0" err="1">
                <a:solidFill>
                  <a:schemeClr val="bg1"/>
                </a:solidFill>
              </a:rPr>
              <a:t>Framelet</a:t>
            </a:r>
            <a:r>
              <a:rPr lang="en-US" sz="2200" dirty="0">
                <a:solidFill>
                  <a:schemeClr val="bg1"/>
                </a:solidFill>
              </a:rPr>
              <a:t> Transform with structural information adjustment and spectral information patching.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Our method is different from the regular simple </a:t>
            </a:r>
            <a:r>
              <a:rPr lang="en-US" sz="2200" dirty="0" err="1">
                <a:solidFill>
                  <a:schemeClr val="bg1"/>
                </a:solidFill>
              </a:rPr>
              <a:t>Framelet</a:t>
            </a:r>
            <a:r>
              <a:rPr lang="en-US" sz="2200" dirty="0">
                <a:solidFill>
                  <a:schemeClr val="bg1"/>
                </a:solidFill>
              </a:rPr>
              <a:t> Transform fusion method in that our method performs Frames decomposition with different levels for low- and high-activity regions, respectively, in the Ultrasound and MR Tumor images.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 addition we did image segmentation algorithm for detection of Fetal Tumor with proposed fusion images.</a:t>
            </a:r>
          </a:p>
        </p:txBody>
      </p:sp>
    </p:spTree>
    <p:extLst>
      <p:ext uri="{BB962C8B-B14F-4D97-AF65-F5344CB8AC3E}">
        <p14:creationId xmlns:p14="http://schemas.microsoft.com/office/powerpoint/2010/main" val="4227796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257" y="1172916"/>
            <a:ext cx="106680" cy="120396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3257" y="2629478"/>
            <a:ext cx="106680" cy="347726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650" spc="-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50" spc="-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50" spc="-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3544" y="1182644"/>
            <a:ext cx="10616565" cy="493712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MRI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Brain Images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MRI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Brain</a:t>
            </a:r>
            <a:r>
              <a:rPr sz="1800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Image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Segmentation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using Machine Learning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 Techniques</a:t>
            </a:r>
            <a:endParaRPr sz="1800">
              <a:latin typeface="Cambria"/>
              <a:cs typeface="Cambria"/>
            </a:endParaRPr>
          </a:p>
          <a:p>
            <a:pPr marL="12700" marR="785495">
              <a:lnSpc>
                <a:spcPct val="101000"/>
              </a:lnSpc>
              <a:spcBef>
                <a:spcPts val="920"/>
              </a:spcBef>
            </a:pP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Survey</a:t>
            </a:r>
            <a:r>
              <a:rPr sz="18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Brain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Tumor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Detection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Based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On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MRI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Deep 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Learning </a:t>
            </a:r>
            <a:r>
              <a:rPr sz="1800" spc="-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endParaRPr sz="1800">
              <a:latin typeface="Calibri"/>
              <a:cs typeface="Calibri"/>
            </a:endParaRPr>
          </a:p>
          <a:p>
            <a:pPr marL="12700" marR="5203190">
              <a:lnSpc>
                <a:spcPct val="143000"/>
              </a:lnSpc>
              <a:spcBef>
                <a:spcPts val="10"/>
              </a:spcBef>
            </a:pP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Review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on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MRI Brain Image Segmentation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Multi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stage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and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segmentation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brain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tumor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43000"/>
              </a:lnSpc>
              <a:spcBef>
                <a:spcPts val="10"/>
              </a:spcBef>
            </a:pP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Hybrid Feature Extraction Method 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Regularized Extreme Learning Machine for Brain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Tumor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Classification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Survey on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Advanced Segmentation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Brain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MRI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Image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Segmentation</a:t>
            </a:r>
            <a:endParaRPr sz="1800">
              <a:latin typeface="Times New Roman"/>
              <a:cs typeface="Times New Roman"/>
            </a:endParaRPr>
          </a:p>
          <a:p>
            <a:pPr marL="12700" marR="3814445">
              <a:lnSpc>
                <a:spcPct val="144900"/>
              </a:lnSpc>
              <a:spcBef>
                <a:spcPts val="10"/>
              </a:spcBef>
            </a:pP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Deep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learning based brain tumor classification using magnetic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resonance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imaging </a:t>
            </a:r>
            <a:r>
              <a:rPr sz="1650" spc="-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r>
              <a:rPr sz="1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deeplearning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medical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imaging focusing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MRI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Brain</a:t>
            </a:r>
            <a:r>
              <a:rPr sz="16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Times New Roman"/>
                <a:cs typeface="Times New Roman"/>
              </a:rPr>
              <a:t>Tumor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Detection Using</a:t>
            </a:r>
            <a:r>
              <a:rPr sz="1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Deep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 Neural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6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65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Times New Roman"/>
                <a:cs typeface="Times New Roman"/>
              </a:rPr>
              <a:t>Algorithm</a:t>
            </a:r>
            <a:endParaRPr sz="1650">
              <a:latin typeface="Times New Roman"/>
              <a:cs typeface="Times New Roman"/>
            </a:endParaRPr>
          </a:p>
          <a:p>
            <a:pPr marL="12700" marR="4290060">
              <a:lnSpc>
                <a:spcPts val="31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Detection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Tumour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Using Grey Level Co-Occurrence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Matrix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Lifting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DWT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Radial Basis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339" y="2556624"/>
            <a:ext cx="44494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5" dirty="0">
                <a:latin typeface="Calibri"/>
                <a:cs typeface="Calibri"/>
              </a:rPr>
              <a:t>THANK</a:t>
            </a:r>
            <a:r>
              <a:rPr sz="7200" spc="-105" dirty="0">
                <a:latin typeface="Calibri"/>
                <a:cs typeface="Calibri"/>
              </a:rPr>
              <a:t> </a:t>
            </a:r>
            <a:r>
              <a:rPr sz="7200" spc="-80" dirty="0">
                <a:latin typeface="Calibri"/>
                <a:cs typeface="Calibri"/>
              </a:rPr>
              <a:t>YOU</a:t>
            </a:r>
            <a:endParaRPr sz="7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1958</Words>
  <Application>Microsoft Office PowerPoint</Application>
  <PresentationFormat>Custom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ABSTRACT</vt:lpstr>
      <vt:lpstr>PowerPoint Presentation</vt:lpstr>
      <vt:lpstr>PowerPoint Presentation</vt:lpstr>
      <vt:lpstr>PROBLEM STATEMENT</vt:lpstr>
      <vt:lpstr>IMAGE PREPROCESSING</vt:lpstr>
      <vt:lpstr>Literature survey: </vt:lpstr>
      <vt:lpstr>EXISTING SYSTEM</vt:lpstr>
      <vt:lpstr>DISADVANTAGES</vt:lpstr>
      <vt:lpstr>PROPOSED SYSTEM</vt:lpstr>
      <vt:lpstr>PowerPoint Presentation</vt:lpstr>
      <vt:lpstr>MODIFIED CNN-ARCHITECTURE</vt:lpstr>
      <vt:lpstr>DATA AUGMENTATION</vt:lpstr>
      <vt:lpstr>CNN-ARCHITECTURE-1 CONV(7,7)</vt:lpstr>
      <vt:lpstr>CNN-ARCHITECTURE -1</vt:lpstr>
      <vt:lpstr>ACCURACY-CONV(7,7)</vt:lpstr>
      <vt:lpstr>Modules of the project:</vt:lpstr>
      <vt:lpstr>Algorithm:</vt:lpstr>
      <vt:lpstr>ADVAN TAGES: </vt:lpstr>
      <vt:lpstr>Hardware and Software Specification </vt:lpstr>
      <vt:lpstr>FURTHER IMPROVEMENTS</vt:lpstr>
      <vt:lpstr>CONCLUTION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Tumor detection through mri brain images</dc:title>
  <dc:creator>ROHIT ARYA</dc:creator>
  <cp:lastModifiedBy>Abhishek P</cp:lastModifiedBy>
  <cp:revision>37</cp:revision>
  <dcterms:created xsi:type="dcterms:W3CDTF">2022-05-13T04:19:19Z</dcterms:created>
  <dcterms:modified xsi:type="dcterms:W3CDTF">2025-11-17T17:19:15Z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2021-06-30T00:00:00Z</vt:filetime>
  </property>
  <property fmtid="{D5CDD505-2E9C-101B-9397-08002B2CF9AE}" pid="3" name="Creator">
    <vt:lpwstr>Impress</vt:lpwstr>
  </property>
  <property fmtid="{D5CDD505-2E9C-101B-9397-08002B2CF9AE}" pid="4" name="LastSaved">
    <vt:filetime>2021-06-30T00:00:00Z</vt:filetime>
  </property>
</Properties>
</file>